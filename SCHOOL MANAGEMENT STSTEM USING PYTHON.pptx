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86" r:id="rId6"/>
    <p:sldId id="289" r:id="rId7"/>
    <p:sldId id="290" r:id="rId8"/>
    <p:sldId id="291" r:id="rId9"/>
    <p:sldId id="292" r:id="rId10"/>
    <p:sldId id="295" r:id="rId11"/>
    <p:sldId id="294" r:id="rId12"/>
    <p:sldId id="298" r:id="rId13"/>
    <p:sldId id="299" r:id="rId14"/>
    <p:sldId id="300" r:id="rId15"/>
    <p:sldId id="301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1BC7B-B5CF-49EB-B8B4-E9CD51EBE111}" v="4" dt="2025-12-28T15:59:17.949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726" autoAdjust="0"/>
  </p:normalViewPr>
  <p:slideViewPr>
    <p:cSldViewPr snapToGrid="0">
      <p:cViewPr varScale="1">
        <p:scale>
          <a:sx n="93" d="100"/>
          <a:sy n="93" d="100"/>
        </p:scale>
        <p:origin x="192" y="8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mona Prabhu" userId="a299ff6db1285559" providerId="LiveId" clId="{28576321-E07C-4020-ACB0-FE05BAFE2898}"/>
    <pc:docChg chg="modSld modMainMaster">
      <pc:chgData name="Remona Prabhu" userId="a299ff6db1285559" providerId="LiveId" clId="{28576321-E07C-4020-ACB0-FE05BAFE2898}" dt="2025-12-28T15:59:17.947" v="3"/>
      <pc:docMkLst>
        <pc:docMk/>
      </pc:docMkLst>
      <pc:sldChg chg="modTransition">
        <pc:chgData name="Remona Prabhu" userId="a299ff6db1285559" providerId="LiveId" clId="{28576321-E07C-4020-ACB0-FE05BAFE2898}" dt="2025-12-28T15:59:17.947" v="3"/>
        <pc:sldMkLst>
          <pc:docMk/>
          <pc:sldMk cId="2259308896" sldId="256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3662677160" sldId="286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2529338794" sldId="289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1265939620" sldId="290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2652102883" sldId="291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362649583" sldId="292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853261029" sldId="294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907915534" sldId="295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1609673525" sldId="296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1678163377" sldId="298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3939412745" sldId="299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2684120826" sldId="300"/>
        </pc:sldMkLst>
      </pc:sldChg>
      <pc:sldChg chg="modTransition">
        <pc:chgData name="Remona Prabhu" userId="a299ff6db1285559" providerId="LiveId" clId="{28576321-E07C-4020-ACB0-FE05BAFE2898}" dt="2025-12-28T15:59:17.947" v="3"/>
        <pc:sldMkLst>
          <pc:docMk/>
          <pc:sldMk cId="3374293797" sldId="301"/>
        </pc:sldMkLst>
      </pc:sldChg>
      <pc:sldMasterChg chg="modTransition modSldLayout">
        <pc:chgData name="Remona Prabhu" userId="a299ff6db1285559" providerId="LiveId" clId="{28576321-E07C-4020-ACB0-FE05BAFE2898}" dt="2025-12-28T15:59:17.947" v="3"/>
        <pc:sldMasterMkLst>
          <pc:docMk/>
          <pc:sldMasterMk cId="1788353970" sldId="2147483648"/>
        </pc:sldMasterMkLst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2916498579" sldId="2147483649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2782271272" sldId="2147483650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986529405" sldId="2147483659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3190945164" sldId="2147483661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2544706900" sldId="2147483666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767843504" sldId="2147483668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4020426631" sldId="2147483669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2883176917" sldId="2147483671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2491266794" sldId="2147483673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4193030505" sldId="2147483675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525656170" sldId="2147483676"/>
          </pc:sldLayoutMkLst>
        </pc:sldLayoutChg>
        <pc:sldLayoutChg chg="modTransition">
          <pc:chgData name="Remona Prabhu" userId="a299ff6db1285559" providerId="LiveId" clId="{28576321-E07C-4020-ACB0-FE05BAFE2898}" dt="2025-12-28T15:59:17.947" v="3"/>
          <pc:sldLayoutMkLst>
            <pc:docMk/>
            <pc:sldMasterMk cId="1788353970" sldId="2147483648"/>
            <pc:sldLayoutMk cId="1827098551" sldId="214748367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C13D-803C-A967-5D8A-04A9515F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49330-B492-57B5-414A-736F4B8F2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3F76F-EB84-3AAF-67BD-04B413F73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89D8B-209C-C0AD-402E-77F8979DE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134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7EE-EF8B-229A-552E-A0302456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AE970-C22D-D2A9-B5D0-928619EF5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FB0220-125F-D522-6FAC-7D45C14DB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E4E25-9631-913A-1254-504528ED5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593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7120-0F0F-8102-6D9C-C03C41FD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EE646-2E79-A01D-7AA5-0AF733C1F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F20E9-090B-9C48-847D-518909CE5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3A3A-36FC-2880-B1A2-B919A5B78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219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75" r:id="rId8"/>
    <p:sldLayoutId id="2147483677" r:id="rId9"/>
    <p:sldLayoutId id="2147483676" r:id="rId10"/>
    <p:sldLayoutId id="2147483661" r:id="rId11"/>
    <p:sldLayoutId id="2147483666" r:id="rId12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28" y="866303"/>
            <a:ext cx="8399476" cy="2074852"/>
          </a:xfrm>
        </p:spPr>
        <p:txBody>
          <a:bodyPr/>
          <a:lstStyle/>
          <a:p>
            <a:r>
              <a:rPr lang="en" b="0" dirty="0">
                <a:latin typeface="Algerian" panose="04020705040A02060702" pitchFamily="82" charset="0"/>
              </a:rPr>
              <a:t>SCHOOL MANAGEMENT STSTEM USING PYTHON</a:t>
            </a:r>
            <a:endParaRPr lang="en-US" b="0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5B459-2B71-518F-E147-C724725A1F07}"/>
              </a:ext>
            </a:extLst>
          </p:cNvPr>
          <p:cNvSpPr txBox="1"/>
          <p:nvPr/>
        </p:nvSpPr>
        <p:spPr>
          <a:xfrm>
            <a:off x="3745684" y="3274602"/>
            <a:ext cx="95718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lgerian" panose="04020705040A02060702" pitchFamily="82" charset="0"/>
              </a:rPr>
              <a:t>NAME                      : </a:t>
            </a:r>
            <a:r>
              <a:rPr lang="en-US" sz="4000" dirty="0">
                <a:latin typeface="Algerian" panose="04020705040A02060702" pitchFamily="82" charset="0"/>
              </a:rPr>
              <a:t>REONA P</a:t>
            </a:r>
          </a:p>
          <a:p>
            <a:r>
              <a:rPr lang="en-US" sz="4000" dirty="0">
                <a:latin typeface="Algerian" panose="04020705040A02060702" pitchFamily="82" charset="0"/>
              </a:rPr>
              <a:t>DATE SUBMITTED : 29-12-2025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738" y="276999"/>
            <a:ext cx="7831381" cy="1142720"/>
          </a:xfrm>
        </p:spPr>
        <p:txBody>
          <a:bodyPr/>
          <a:lstStyle/>
          <a:p>
            <a:r>
              <a:rPr lang="en-US" b="0" dirty="0">
                <a:latin typeface="Algerian" panose="04020705040A02060702" pitchFamily="82" charset="0"/>
              </a:rPr>
              <a:t>Aim of the Project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668C9D-FCA4-2053-87CD-F155053D2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67" y="1419719"/>
            <a:ext cx="7253312" cy="4197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To automate school management processes and minimize manual    record maintenance.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To offer an intuitive and user-friendly interface for managing students, teachers, attendance, academic performance, and resources.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To ensure secure and persistent data storage using JSON for efficient retrieval and updates.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To facilitate effective communication among school staff and relevant stakeholders.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7E6D4527-98DD-94B5-2F3F-0249D1BFF58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" r="228"/>
          <a:stretch>
            <a:fillRect/>
          </a:stretch>
        </p:blipFill>
        <p:spPr bwMode="auto">
          <a:xfrm>
            <a:off x="7782878" y="1501140"/>
            <a:ext cx="4500562" cy="417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12" y="235585"/>
            <a:ext cx="9779183" cy="1600835"/>
          </a:xfrm>
        </p:spPr>
        <p:txBody>
          <a:bodyPr/>
          <a:lstStyle/>
          <a:p>
            <a:r>
              <a:rPr lang="en-US" sz="6000" b="0" dirty="0">
                <a:latin typeface="Algerian" panose="04020705040A02060702" pitchFamily="82" charset="0"/>
              </a:rPr>
              <a:t>Business Problem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9733D3C-014F-97F1-029F-8C13B72780C3}"/>
              </a:ext>
            </a:extLst>
          </p:cNvPr>
          <p:cNvSpPr>
            <a:spLocks noGrp="1" noChangeArrowheads="1"/>
          </p:cNvSpPr>
          <p:nvPr>
            <p:ph idx="14"/>
          </p:nvPr>
        </p:nvSpPr>
        <p:spPr bwMode="auto">
          <a:xfrm>
            <a:off x="1166088" y="2503329"/>
            <a:ext cx="8412252" cy="3735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Manual handling of school records is labor-intensive and highly susceptible to errors.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Managing attendance, academic performance, and resources without a centralized system leads to inefficiencies.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Communication among teachers, students, and parents is often unstructured and fragmented.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There is a strong need for a scalable and automated solution to ensure smooth and efficient school operations.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32" y="441960"/>
            <a:ext cx="9601200" cy="814537"/>
          </a:xfrm>
        </p:spPr>
        <p:txBody>
          <a:bodyPr/>
          <a:lstStyle/>
          <a:p>
            <a:r>
              <a:rPr lang="en-US" b="0" dirty="0">
                <a:latin typeface="Algerian" panose="04020705040A02060702" pitchFamily="82" charset="0"/>
              </a:rPr>
              <a:t>Project Description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83680E0-FCD7-52E6-1E47-216B6BEE64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7972" y="1564675"/>
            <a:ext cx="8425081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Overview: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A Python-based application that uses JSON for reliable and persistent data storage.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Scope: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Manages student enrollment, teacher records, attendance tracking, grading, resource management, and communication.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Technologies Used: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Python, JSON, and Object-Oriented Programming (OOP) principles.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Key Features: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Modular architecture, robust input validation, effective error handling, and persistent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57" y="-126557"/>
            <a:ext cx="5040361" cy="819226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  <a:latin typeface="Algerian" panose="04020705040A02060702" pitchFamily="82" charset="0"/>
              </a:rPr>
              <a:t>Functionalities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37CBAA1-03FF-64B7-69C3-A3ED6726E17F}"/>
              </a:ext>
            </a:extLst>
          </p:cNvPr>
          <p:cNvSpPr>
            <a:spLocks noGrp="1" noChangeArrowheads="1"/>
          </p:cNvSpPr>
          <p:nvPr>
            <p:ph idx="12"/>
          </p:nvPr>
        </p:nvSpPr>
        <p:spPr bwMode="auto">
          <a:xfrm>
            <a:off x="1167492" y="3367234"/>
            <a:ext cx="78471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76641829-4950-9B69-5C05-168F73F18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701" y="570749"/>
            <a:ext cx="7504982" cy="3371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Student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Register and view student details with phone number validation and duplicate record prevention.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Teacher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Maintain teacher profiles, including qualifications and assigned subjects.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Attendance Tracking: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Record daily attendance and generate detailed attendance reports.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Grade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Enter subject-wise grades and produce report cards with GPA calculations.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F86AF2D2-ABFC-9146-83F6-312754206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701" y="3829455"/>
            <a:ext cx="839350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Resource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Add, allocate, and monitor resources while tracking availability and quantities.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Communication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Send and manage messages to students, parents, and teachers with message history tracking.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Error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Implement strong input validation and exception handling to ensure data accuracy and system reliability.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83" y="1120139"/>
            <a:ext cx="10308857" cy="810657"/>
          </a:xfrm>
        </p:spPr>
        <p:txBody>
          <a:bodyPr/>
          <a:lstStyle/>
          <a:p>
            <a:r>
              <a:rPr lang="en-US" b="0" dirty="0">
                <a:latin typeface="Algerian" panose="04020705040A02060702" pitchFamily="82" charset="0"/>
              </a:rPr>
              <a:t>Input Versatility &amp; Error 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8B54F9-0E66-4D8A-CC0F-95F84409A248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790556" y="2435899"/>
            <a:ext cx="8315344" cy="3735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Versatile Inputs: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Supports roll numbers, teacher IDs, phone numbers, grades, and resource quantities.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Robust Error Handling: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ootlight MT Light" panose="0204060206030A020304" pitchFamily="18" charset="0"/>
            </a:endParaRPr>
          </a:p>
          <a:p>
            <a:pPr marL="909828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Validates phone numbers and numeric inputs.</a:t>
            </a:r>
          </a:p>
          <a:p>
            <a:pPr marL="909828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Prevents duplicate records.</a:t>
            </a:r>
          </a:p>
          <a:p>
            <a:pPr marL="909828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Gracefully manages missing or invalid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Example Scenario: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ootlight MT Light" panose="0204060206030A020304" pitchFamily="18" charset="0"/>
              </a:rPr>
              <a:t> Attempting to mark attendance for a non-existent student triggers an appropriate error message.</a:t>
            </a: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74" y="385474"/>
            <a:ext cx="6047039" cy="654340"/>
          </a:xfrm>
        </p:spPr>
        <p:txBody>
          <a:bodyPr/>
          <a:lstStyle/>
          <a:p>
            <a:r>
              <a:rPr lang="en-IN" b="0" dirty="0">
                <a:latin typeface="Algerian" panose="04020705040A02060702" pitchFamily="82" charset="0"/>
              </a:rPr>
              <a:t>Code Implementation</a:t>
            </a:r>
            <a:endParaRPr lang="en-US" b="0" dirty="0">
              <a:latin typeface="Algerian" panose="04020705040A02060702" pitchFamily="8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7220" y="1303020"/>
            <a:ext cx="11521440" cy="35328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Footlight MT Light" panose="0204060206030A020304" pitchFamily="18" charset="0"/>
              </a:rPr>
              <a:t>Overview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ootlight MT Light" panose="0204060206030A020304" pitchFamily="18" charset="0"/>
              </a:rPr>
              <a:t>The School Management System is implemented using </a:t>
            </a:r>
            <a:r>
              <a:rPr lang="en-US" b="1" dirty="0">
                <a:latin typeface="Footlight MT Light" panose="0204060206030A020304" pitchFamily="18" charset="0"/>
              </a:rPr>
              <a:t>Python</a:t>
            </a:r>
            <a:r>
              <a:rPr lang="en-US" dirty="0">
                <a:latin typeface="Footlight MT Light" panose="0204060206030A020304" pitchFamily="18" charset="0"/>
              </a:rPr>
              <a:t> with an </a:t>
            </a:r>
            <a:r>
              <a:rPr lang="en-US" b="1" dirty="0">
                <a:latin typeface="Footlight MT Light" panose="0204060206030A020304" pitchFamily="18" charset="0"/>
              </a:rPr>
              <a:t>object-oriented approach</a:t>
            </a:r>
            <a:r>
              <a:rPr lang="en-US" dirty="0">
                <a:latin typeface="Footlight MT Light" panose="0204060206030A020304" pitchFamily="18" charset="0"/>
              </a:rPr>
              <a:t>. It organizes school operations into separate modules for better readability, maintainability, and scalability. Data is stored in structured </a:t>
            </a:r>
            <a:r>
              <a:rPr lang="en-US" b="1" dirty="0">
                <a:latin typeface="Footlight MT Light" panose="0204060206030A020304" pitchFamily="18" charset="0"/>
              </a:rPr>
              <a:t>dictionary-based data structures</a:t>
            </a:r>
            <a:r>
              <a:rPr lang="en-US" dirty="0">
                <a:latin typeface="Footlight MT Light" panose="0204060206030A020304" pitchFamily="18" charset="0"/>
              </a:rPr>
              <a:t>, simulating persistent storage.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Footlight MT Light" panose="0204060206030A020304" pitchFamily="18" charset="0"/>
              </a:rPr>
              <a:t>Key Data Structures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ootlight MT Light" panose="0204060206030A020304" pitchFamily="18" charset="0"/>
              </a:rPr>
              <a:t>A centralized database dictionary stores all system data: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Footlight MT Light" panose="0204060206030A020304" pitchFamily="18" charset="0"/>
              </a:rPr>
              <a:t>students, teachers, attendance, grades, resources → stored as dictionaries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Footlight MT Light" panose="0204060206030A020304" pitchFamily="18" charset="0"/>
              </a:rPr>
              <a:t>messages → stored as a list of dictionaries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ootlight MT Light" panose="0204060206030A020304" pitchFamily="18" charset="0"/>
              </a:rPr>
              <a:t>This structure allows quick data retrieval, updates, and validations.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F388595-2398-04F0-699D-AE6A2E5CC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86" y="493468"/>
            <a:ext cx="2480812" cy="2865411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070C307-AD04-F057-A672-812C7C284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465" y="493467"/>
            <a:ext cx="2333730" cy="2865411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46B66F1-319C-69FC-C83B-F86E00A45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439" y="493467"/>
            <a:ext cx="2590233" cy="2865411"/>
          </a:xfrm>
          <a:prstGeom prst="rect">
            <a:avLst/>
          </a:prstGeom>
        </p:spPr>
      </p:pic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95CE0A4-4CBF-0647-BD25-C1FD12D99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9916" y="493467"/>
            <a:ext cx="2518883" cy="2865411"/>
          </a:xfrm>
          <a:prstGeom prst="rect">
            <a:avLst/>
          </a:prstGeom>
        </p:spPr>
      </p:pic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4E62C5-3581-9E69-698C-8408CFFCFA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409" y="3566477"/>
            <a:ext cx="2480812" cy="2933895"/>
          </a:xfrm>
          <a:prstGeom prst="rect">
            <a:avLst/>
          </a:prstGeom>
        </p:spPr>
      </p:pic>
      <p:pic>
        <p:nvPicPr>
          <p:cNvPr id="17" name="Picture 1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EC31BDE-5AB1-7309-2A7C-277DD99727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7465" y="3566478"/>
            <a:ext cx="2333730" cy="2933895"/>
          </a:xfrm>
          <a:prstGeom prst="rect">
            <a:avLst/>
          </a:prstGeom>
        </p:spPr>
      </p:pic>
      <p:pic>
        <p:nvPicPr>
          <p:cNvPr id="19" name="Picture 1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89202D6-F19C-457F-2093-675018CBBC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5439" y="3566479"/>
            <a:ext cx="2590233" cy="293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B9AE-0313-1564-4D51-C9AEBCE3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8BDFE8-FA6C-62E9-24A3-D401D3703963}"/>
              </a:ext>
            </a:extLst>
          </p:cNvPr>
          <p:cNvSpPr txBox="1"/>
          <p:nvPr/>
        </p:nvSpPr>
        <p:spPr>
          <a:xfrm>
            <a:off x="137823" y="1307242"/>
            <a:ext cx="28445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Enter choice:  1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Roll Number:  28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Phone (10 digits):  1235698745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Name:  Reo 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Address:  Ooty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Student enrolled successfully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43673-5A50-88ED-54B4-4B486229B1FF}"/>
              </a:ext>
            </a:extLst>
          </p:cNvPr>
          <p:cNvSpPr txBox="1"/>
          <p:nvPr/>
        </p:nvSpPr>
        <p:spPr>
          <a:xfrm>
            <a:off x="2806481" y="1307242"/>
            <a:ext cx="3321656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IN" sz="1200" dirty="0"/>
              <a:t>------ SCHOOL MANAGEMENT SYSTEM ------</a:t>
            </a:r>
          </a:p>
          <a:p>
            <a:pPr latinLnBrk="1"/>
            <a:r>
              <a:rPr lang="en-IN" sz="1200" dirty="0"/>
              <a:t>1. Add Student</a:t>
            </a:r>
          </a:p>
          <a:p>
            <a:pPr latinLnBrk="1"/>
            <a:r>
              <a:rPr lang="en-IN" sz="1200" dirty="0"/>
              <a:t>2. View Students</a:t>
            </a:r>
          </a:p>
          <a:p>
            <a:pPr latinLnBrk="1"/>
            <a:r>
              <a:rPr lang="en-IN" sz="1200" dirty="0"/>
              <a:t>3. Add Teacher</a:t>
            </a:r>
          </a:p>
          <a:p>
            <a:pPr latinLnBrk="1"/>
            <a:r>
              <a:rPr lang="en-IN" sz="1200" dirty="0"/>
              <a:t>4. View Teachers</a:t>
            </a:r>
          </a:p>
          <a:p>
            <a:pPr latinLnBrk="1"/>
            <a:r>
              <a:rPr lang="en-IN" sz="1200" dirty="0"/>
              <a:t>5. Mark Attendance</a:t>
            </a:r>
          </a:p>
          <a:p>
            <a:pPr latinLnBrk="1"/>
            <a:r>
              <a:rPr lang="en-IN" sz="1200" dirty="0"/>
              <a:t>6. Attendance Report</a:t>
            </a:r>
          </a:p>
          <a:p>
            <a:pPr latinLnBrk="1"/>
            <a:r>
              <a:rPr lang="en-IN" sz="1200" dirty="0"/>
              <a:t>7. Add Grade</a:t>
            </a:r>
          </a:p>
          <a:p>
            <a:pPr latinLnBrk="1"/>
            <a:r>
              <a:rPr lang="en-IN" sz="1200" dirty="0"/>
              <a:t>8. View Report Card</a:t>
            </a:r>
          </a:p>
          <a:p>
            <a:pPr latinLnBrk="1"/>
            <a:r>
              <a:rPr lang="en-IN" sz="1200" dirty="0"/>
              <a:t>9. Add Resource</a:t>
            </a:r>
          </a:p>
          <a:p>
            <a:pPr latinLnBrk="1"/>
            <a:r>
              <a:rPr lang="en-IN" sz="1200" dirty="0"/>
              <a:t>10. Allocate Resource</a:t>
            </a:r>
          </a:p>
          <a:p>
            <a:pPr latinLnBrk="1"/>
            <a:r>
              <a:rPr lang="en-IN" sz="1200" dirty="0"/>
              <a:t>11. View Resources</a:t>
            </a:r>
          </a:p>
          <a:p>
            <a:pPr latinLnBrk="1"/>
            <a:r>
              <a:rPr lang="en-IN" sz="1200" dirty="0"/>
              <a:t>12. Send Message</a:t>
            </a:r>
          </a:p>
          <a:p>
            <a:pPr latinLnBrk="1"/>
            <a:r>
              <a:rPr lang="en-IN" sz="1200" dirty="0"/>
              <a:t>13. View Messages</a:t>
            </a:r>
          </a:p>
          <a:p>
            <a:pPr latinLnBrk="1"/>
            <a:r>
              <a:rPr lang="en-IN" sz="1200" dirty="0"/>
              <a:t>0. Exit</a:t>
            </a:r>
          </a:p>
          <a:p>
            <a:pPr latinLnBrk="1"/>
            <a:r>
              <a:rPr lang="en-IN" sz="1200" dirty="0"/>
              <a:t>Enter choice:  2</a:t>
            </a:r>
          </a:p>
          <a:p>
            <a:pPr latinLnBrk="1"/>
            <a:endParaRPr lang="en-IN" sz="1200" dirty="0"/>
          </a:p>
          <a:p>
            <a:pPr latinLnBrk="1"/>
            <a:r>
              <a:rPr lang="en-IN" sz="1200" dirty="0"/>
              <a:t>--- STUDENTS ---</a:t>
            </a:r>
          </a:p>
          <a:p>
            <a:pPr latinLnBrk="1"/>
            <a:r>
              <a:rPr lang="en-IN" sz="1200" dirty="0"/>
              <a:t>Roll: 28 | Name: Reo  | Phone: 1235698745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26021-F182-25B0-7F0D-D8AE820B421D}"/>
              </a:ext>
            </a:extLst>
          </p:cNvPr>
          <p:cNvSpPr txBox="1"/>
          <p:nvPr/>
        </p:nvSpPr>
        <p:spPr>
          <a:xfrm>
            <a:off x="6008040" y="1307242"/>
            <a:ext cx="28445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Enter choice:  3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Teacher ID:  1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Name:  Gaya3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Qualification:  ME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Subject:  Software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Teacher added successfully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8D8EC-FDD3-C055-F0CC-3BB3BB1961E0}"/>
              </a:ext>
            </a:extLst>
          </p:cNvPr>
          <p:cNvSpPr txBox="1"/>
          <p:nvPr/>
        </p:nvSpPr>
        <p:spPr>
          <a:xfrm>
            <a:off x="8796795" y="1307242"/>
            <a:ext cx="28445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Enter choice:  4</a:t>
            </a:r>
          </a:p>
          <a:p>
            <a:pPr algn="l" latinLnBrk="1">
              <a:buNone/>
            </a:pPr>
            <a:endParaRPr lang="en-US" sz="1200" b="0" i="0" dirty="0">
              <a:effectLst/>
              <a:latin typeface="menlo"/>
            </a:endParaRPr>
          </a:p>
          <a:p>
            <a:pPr latinLnBrk="1"/>
            <a:r>
              <a:rPr lang="en-US" sz="1200" dirty="0"/>
              <a:t>--- TEACHERS ---</a:t>
            </a:r>
          </a:p>
          <a:p>
            <a:pPr latinLnBrk="1"/>
            <a:r>
              <a:rPr lang="en-US" sz="1200" dirty="0"/>
              <a:t>ID: 1 | Name: Gaya3 | Subject: Software</a:t>
            </a:r>
          </a:p>
          <a:p>
            <a:pPr algn="l" latinLnBrk="1">
              <a:buNone/>
            </a:pPr>
            <a:endParaRPr lang="en-US" sz="12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939412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E96F-6802-74BB-EB18-8F974397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4558EE-7FD1-4238-5EF5-678EA903F06F}"/>
              </a:ext>
            </a:extLst>
          </p:cNvPr>
          <p:cNvSpPr txBox="1"/>
          <p:nvPr/>
        </p:nvSpPr>
        <p:spPr>
          <a:xfrm>
            <a:off x="2933039" y="1204207"/>
            <a:ext cx="323419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Enter choice:  5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Roll Number:  28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Present / Absent:  Present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Attendance marked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48B7E-28D1-E698-30AF-31E59264D301}"/>
              </a:ext>
            </a:extLst>
          </p:cNvPr>
          <p:cNvSpPr txBox="1"/>
          <p:nvPr/>
        </p:nvSpPr>
        <p:spPr>
          <a:xfrm>
            <a:off x="5653715" y="1174390"/>
            <a:ext cx="28922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Enter choice:  6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Roll Number:  28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Attendance: 1/1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5CF4B-54F6-EE67-DB90-063BEBBF49ED}"/>
              </a:ext>
            </a:extLst>
          </p:cNvPr>
          <p:cNvSpPr txBox="1"/>
          <p:nvPr/>
        </p:nvSpPr>
        <p:spPr>
          <a:xfrm>
            <a:off x="8546001" y="1174390"/>
            <a:ext cx="289228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Enter choice:  9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Resource name:  Laptop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Quantity:  1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Resource added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D90B4-64C6-77DA-5920-EA9D47AA1F70}"/>
              </a:ext>
            </a:extLst>
          </p:cNvPr>
          <p:cNvSpPr txBox="1"/>
          <p:nvPr/>
        </p:nvSpPr>
        <p:spPr>
          <a:xfrm>
            <a:off x="203420" y="1204207"/>
            <a:ext cx="289228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Enter choice:  5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Roll Number:  28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Present / Absent:  Present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Attendance marked</a:t>
            </a:r>
          </a:p>
        </p:txBody>
      </p:sp>
    </p:spTree>
    <p:extLst>
      <p:ext uri="{BB962C8B-B14F-4D97-AF65-F5344CB8AC3E}">
        <p14:creationId xmlns:p14="http://schemas.microsoft.com/office/powerpoint/2010/main" val="2684120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03D54-9584-8F94-8DE7-E8FCC3BC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F11183-C11D-7CD8-E976-F050E27E62FD}"/>
              </a:ext>
            </a:extLst>
          </p:cNvPr>
          <p:cNvSpPr txBox="1"/>
          <p:nvPr/>
        </p:nvSpPr>
        <p:spPr>
          <a:xfrm>
            <a:off x="2974452" y="131566"/>
            <a:ext cx="304866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Enter choice:  11</a:t>
            </a:r>
          </a:p>
          <a:p>
            <a:pPr algn="l" latinLnBrk="1">
              <a:buNone/>
            </a:pPr>
            <a:endParaRPr lang="en-IN" sz="1200" b="0" i="0" dirty="0">
              <a:effectLst/>
              <a:latin typeface="menlo"/>
            </a:endParaRP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--- RESOURCES ---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Laptop :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64DE8-4E19-114D-63A0-4EE991682624}"/>
              </a:ext>
            </a:extLst>
          </p:cNvPr>
          <p:cNvSpPr txBox="1"/>
          <p:nvPr/>
        </p:nvSpPr>
        <p:spPr>
          <a:xfrm>
            <a:off x="5864752" y="131566"/>
            <a:ext cx="319443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Enter choice:  12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To (Students/Parents/Teachers):  Parents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Message:  She Bunk the Class so came to school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Message sent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515BC-760F-D63F-C5A9-BD36B4D9EC29}"/>
              </a:ext>
            </a:extLst>
          </p:cNvPr>
          <p:cNvSpPr txBox="1"/>
          <p:nvPr/>
        </p:nvSpPr>
        <p:spPr>
          <a:xfrm>
            <a:off x="9115178" y="131566"/>
            <a:ext cx="319443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Enter choice:  13</a:t>
            </a:r>
          </a:p>
          <a:p>
            <a:pPr algn="l" latinLnBrk="1">
              <a:buNone/>
            </a:pPr>
            <a:endParaRPr lang="en-US" sz="1200" b="0" i="0" dirty="0"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--- MESSAGES ---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Parents -&gt; She Bunk the Class so came to school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35E15-3798-B294-056B-A53CFD0DC71A}"/>
              </a:ext>
            </a:extLst>
          </p:cNvPr>
          <p:cNvSpPr txBox="1"/>
          <p:nvPr/>
        </p:nvSpPr>
        <p:spPr>
          <a:xfrm>
            <a:off x="232576" y="3864112"/>
            <a:ext cx="28525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US" sz="1200" b="0" i="0" dirty="0">
                <a:effectLst/>
                <a:latin typeface="menlo"/>
              </a:rPr>
              <a:t>0. Exit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6095D-B315-3B31-42CD-EEA99E5AE46A}"/>
              </a:ext>
            </a:extLst>
          </p:cNvPr>
          <p:cNvSpPr txBox="1"/>
          <p:nvPr/>
        </p:nvSpPr>
        <p:spPr>
          <a:xfrm>
            <a:off x="168966" y="143862"/>
            <a:ext cx="297975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------ SCHOOL MANAGEMENT SYSTEM ------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1. Add Student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2. View Students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3. Add Teacher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4. View Teachers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5. Mark Attendance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6. Attendance Report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7. Add Grade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8. View Report Card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9. Add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10. Allocate Resource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11. View Resources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12. Send Message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13. View Messages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0. Exit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Enter choice:  10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Resource name:  Laptop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Allocate quantity:  1</a:t>
            </a:r>
          </a:p>
          <a:p>
            <a:pPr algn="l" latinLnBrk="1">
              <a:buNone/>
            </a:pPr>
            <a:r>
              <a:rPr lang="en-IN" sz="1200" b="0" i="0" dirty="0">
                <a:effectLst/>
                <a:latin typeface="menlo"/>
              </a:rPr>
              <a:t>Resource allocated</a:t>
            </a:r>
          </a:p>
        </p:txBody>
      </p:sp>
    </p:spTree>
    <p:extLst>
      <p:ext uri="{BB962C8B-B14F-4D97-AF65-F5344CB8AC3E}">
        <p14:creationId xmlns:p14="http://schemas.microsoft.com/office/powerpoint/2010/main" val="3374293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F21A8CB-F10A-99B5-9490-98963C2D3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44" y="1144988"/>
            <a:ext cx="7690568" cy="555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252</TotalTime>
  <Words>1478</Words>
  <Application>Microsoft Office PowerPoint</Application>
  <PresentationFormat>Widescreen</PresentationFormat>
  <Paragraphs>300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Arial</vt:lpstr>
      <vt:lpstr>Calibri</vt:lpstr>
      <vt:lpstr>Footlight MT Light</vt:lpstr>
      <vt:lpstr>menlo</vt:lpstr>
      <vt:lpstr>Tenorite</vt:lpstr>
      <vt:lpstr>Wingdings</vt:lpstr>
      <vt:lpstr>Custom</vt:lpstr>
      <vt:lpstr>SCHOOL MANAGEMENT STSTEM USING PYTHON</vt:lpstr>
      <vt:lpstr>Aim of the Project</vt:lpstr>
      <vt:lpstr>Business Problem</vt:lpstr>
      <vt:lpstr>Project Description</vt:lpstr>
      <vt:lpstr>Functionalities</vt:lpstr>
      <vt:lpstr>Input Versatility &amp; Error Handling</vt:lpstr>
      <vt:lpstr>Code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Remona Prabhu</dc:creator>
  <cp:lastModifiedBy>Remona Prabhu</cp:lastModifiedBy>
  <cp:revision>1</cp:revision>
  <dcterms:created xsi:type="dcterms:W3CDTF">2025-12-28T11:41:11Z</dcterms:created>
  <dcterms:modified xsi:type="dcterms:W3CDTF">2025-12-28T15:59:25Z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